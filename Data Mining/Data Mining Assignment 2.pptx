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2B65368-A9B0-4E2B-B26B-04BB055C204E}" v="2" dt="2025-06-16T13:54:41.124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1FECB4D8-DB02-4DC6-A0A2-4F2EBAE1DC90}" styleName="Medium Style 1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0" d="100"/>
          <a:sy n="70" d="100"/>
        </p:scale>
        <p:origin x="536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12" Type="http://schemas.microsoft.com/office/2015/10/relationships/revisionInfo" Target="revisionInfo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microsoft.com/office/2016/11/relationships/changesInfo" Target="changesInfos/changesInfo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yasmin batrisyia" userId="ff4d47dcbbf52abe" providerId="LiveId" clId="{82B65368-A9B0-4E2B-B26B-04BB055C204E}"/>
    <pc:docChg chg="addSld modSld">
      <pc:chgData name="yasmin batrisyia" userId="ff4d47dcbbf52abe" providerId="LiveId" clId="{82B65368-A9B0-4E2B-B26B-04BB055C204E}" dt="2025-06-16T13:54:41.124" v="4"/>
      <pc:docMkLst>
        <pc:docMk/>
      </pc:docMkLst>
      <pc:sldChg chg="modSp mod">
        <pc:chgData name="yasmin batrisyia" userId="ff4d47dcbbf52abe" providerId="LiveId" clId="{82B65368-A9B0-4E2B-B26B-04BB055C204E}" dt="2025-06-16T13:54:41.124" v="4"/>
        <pc:sldMkLst>
          <pc:docMk/>
          <pc:sldMk cId="3917543809" sldId="259"/>
        </pc:sldMkLst>
        <pc:spChg chg="mod">
          <ac:chgData name="yasmin batrisyia" userId="ff4d47dcbbf52abe" providerId="LiveId" clId="{82B65368-A9B0-4E2B-B26B-04BB055C204E}" dt="2025-06-16T13:54:41.124" v="4"/>
          <ac:spMkLst>
            <pc:docMk/>
            <pc:sldMk cId="3917543809" sldId="259"/>
            <ac:spMk id="4" creationId="{C86BA017-C26D-F852-16D8-F4264EE6E103}"/>
          </ac:spMkLst>
        </pc:spChg>
      </pc:sldChg>
      <pc:sldChg chg="new">
        <pc:chgData name="yasmin batrisyia" userId="ff4d47dcbbf52abe" providerId="LiveId" clId="{82B65368-A9B0-4E2B-B26B-04BB055C204E}" dt="2025-06-16T13:46:51.526" v="0" actId="680"/>
        <pc:sldMkLst>
          <pc:docMk/>
          <pc:sldMk cId="417358629" sldId="260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2F7FD2-CDA9-8752-D7C7-8384BAF7A02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7B9E2E3-C067-6FBA-6E2C-FA0C6E8A178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MY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62A9880-F81A-8C12-3150-20D56D3B65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53CB4C-9DD2-45E6-82D1-4A891D535CAA}" type="datetimeFigureOut">
              <a:rPr lang="en-MY" smtClean="0"/>
              <a:t>16/6/2025</a:t>
            </a:fld>
            <a:endParaRPr lang="en-MY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47104D6-CA57-C54E-5CD4-FB1B238BA8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6A9CAF6-A4A8-8A72-A881-064B6EE8B6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5F8CC1-CE13-4FDB-9876-602F9DCEF944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20791856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8C1336-BFD2-86CA-0673-965029F1F0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643779-29FF-75B4-B89D-BF163C2EBB8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Y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235E750-975E-356E-6CB9-B736BAAE84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53CB4C-9DD2-45E6-82D1-4A891D535CAA}" type="datetimeFigureOut">
              <a:rPr lang="en-MY" smtClean="0"/>
              <a:t>16/6/2025</a:t>
            </a:fld>
            <a:endParaRPr lang="en-MY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9E2B0B5-036E-11B0-8BEB-B53E83A04B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6DBBD95-015C-9FFC-E479-9B6DC530E1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5F8CC1-CE13-4FDB-9876-602F9DCEF944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77642839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8B6023-CABF-986C-B307-8CE2E6D44C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7103C0F-773C-9155-DBDE-35150C59FE3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459DC8B-55DD-4C85-17DE-E0161ABBDE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53CB4C-9DD2-45E6-82D1-4A891D535CAA}" type="datetimeFigureOut">
              <a:rPr lang="en-MY" smtClean="0"/>
              <a:t>16/6/2025</a:t>
            </a:fld>
            <a:endParaRPr lang="en-MY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44499E4-D00F-4F89-1CB3-CF44E8FD7A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8CBFA53-9187-93C7-A153-42734A9EEB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5F8CC1-CE13-4FDB-9876-602F9DCEF944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299534578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3D6A63-EF35-326E-9751-817CE01EDA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7EE35F-1299-281E-A609-9F44379555A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Y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2051389-5B8C-F95E-707C-4718B604B7C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Y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D294F87-DA22-164C-91A0-4F3819D862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53CB4C-9DD2-45E6-82D1-4A891D535CAA}" type="datetimeFigureOut">
              <a:rPr lang="en-MY" smtClean="0"/>
              <a:t>16/6/2025</a:t>
            </a:fld>
            <a:endParaRPr lang="en-MY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3C4BE15-2B94-F730-B97E-AD39D11075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4526388-B05A-8A39-6216-B66D105BD1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5F8CC1-CE13-4FDB-9876-602F9DCEF944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87620069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3E9438-018B-0B73-E2C0-717C094C81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447A9E5-5FEA-E363-F944-5C9C1F02DBB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ADF4725-4581-6DFD-D293-0DB8B4036ED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Y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B3764E0-EBCB-039B-C33A-CA07CA5D1B0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395EE99-0F36-A975-5630-4821E35988E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Y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2FD4AA5-AEC3-435C-63C3-8257F5AD0C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53CB4C-9DD2-45E6-82D1-4A891D535CAA}" type="datetimeFigureOut">
              <a:rPr lang="en-MY" smtClean="0"/>
              <a:t>16/6/2025</a:t>
            </a:fld>
            <a:endParaRPr lang="en-MY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89BD14D-79B3-876F-B325-1052396BBE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91AD1D0-B575-48B0-020D-3F1C332420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5F8CC1-CE13-4FDB-9876-602F9DCEF944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102413657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05BAA3-A1EC-4E54-4A95-1926D9BEFA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D626C69-D95B-2F74-45A7-A7372D8B33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53CB4C-9DD2-45E6-82D1-4A891D535CAA}" type="datetimeFigureOut">
              <a:rPr lang="en-MY" smtClean="0"/>
              <a:t>16/6/2025</a:t>
            </a:fld>
            <a:endParaRPr lang="en-MY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EA5E429-4835-5B0D-B653-A6CED17ED0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D4560E8-6071-1161-11E8-4E5DFB451E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5F8CC1-CE13-4FDB-9876-602F9DCEF944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114514660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C1ABCF6-1A15-EC56-34FC-4364352F01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53CB4C-9DD2-45E6-82D1-4A891D535CAA}" type="datetimeFigureOut">
              <a:rPr lang="en-MY" smtClean="0"/>
              <a:t>16/6/2025</a:t>
            </a:fld>
            <a:endParaRPr lang="en-MY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F1BD300-88DF-65C7-7AE1-3E9C1AC9E6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21FC856-F371-A0A2-61CD-75111DDBFF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5F8CC1-CE13-4FDB-9876-602F9DCEF944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193437323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295698-3811-FD4F-169B-E9CAFF5B1E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AE11B7-70EE-0037-A4A4-F7FA0F07F2A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Y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B6891CE-A58E-90FB-0808-75232460D6C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229C05D-CCF4-C0A3-32F0-703B7252C3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53CB4C-9DD2-45E6-82D1-4A891D535CAA}" type="datetimeFigureOut">
              <a:rPr lang="en-MY" smtClean="0"/>
              <a:t>16/6/2025</a:t>
            </a:fld>
            <a:endParaRPr lang="en-MY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36936A6-E4C6-5E60-A9CD-E561A4CB02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8859D82-77F0-BBE8-906D-2A7EE24A9C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5F8CC1-CE13-4FDB-9876-602F9DCEF944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347256945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D6F218-DEE0-2294-3B6B-2209307B29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7E3D9EC-CB5A-D666-DE0B-AEFD4F9545B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MY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B21D01F-1AC0-A449-FC48-AA7C0D5C2F4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EBF2E5A-D2F7-FA93-A004-716FA40733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53CB4C-9DD2-45E6-82D1-4A891D535CAA}" type="datetimeFigureOut">
              <a:rPr lang="en-MY" smtClean="0"/>
              <a:t>16/6/2025</a:t>
            </a:fld>
            <a:endParaRPr lang="en-MY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599619D-3A58-24A7-1763-F12DA14814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8AED22C-80FF-862C-4619-2E2B9FFC76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5F8CC1-CE13-4FDB-9876-602F9DCEF944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307110515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B657C7-2F4F-7644-AC05-4D2447A1B1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B094B64-FFD8-AC9D-819D-88B1BA435B7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Y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FCD58FA-54F5-C9A6-EA51-1DA432D4B3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53CB4C-9DD2-45E6-82D1-4A891D535CAA}" type="datetimeFigureOut">
              <a:rPr lang="en-MY" smtClean="0"/>
              <a:t>16/6/2025</a:t>
            </a:fld>
            <a:endParaRPr lang="en-MY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51B4E89-6F38-B17C-8165-23FD4559C7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0C29E21-CA37-6237-0E3C-C2F210869C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5F8CC1-CE13-4FDB-9876-602F9DCEF944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237271404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4F31B5D-DC2A-F2F2-FB95-2619DB03F27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D37FD1C-0A9A-A8CD-1985-778D63032B2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Y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4A4B56-75ED-43C3-5F24-2FC2C09A52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53CB4C-9DD2-45E6-82D1-4A891D535CAA}" type="datetimeFigureOut">
              <a:rPr lang="en-MY" smtClean="0"/>
              <a:t>16/6/2025</a:t>
            </a:fld>
            <a:endParaRPr lang="en-MY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4A88EAC-7C1F-C7B4-F268-79A948198C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CB55DA1-700A-AB57-C37E-FB36FDF95D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5F8CC1-CE13-4FDB-9876-602F9DCEF944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29835883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C0908EE-7153-89C7-8DD5-C75D0D3C7B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62B4E42-F3EA-FCDF-2A7C-615D0BB0F72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Y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161FA78-5445-1077-988F-1E755076373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C53CB4C-9DD2-45E6-82D1-4A891D535CAA}" type="datetimeFigureOut">
              <a:rPr lang="en-MY" smtClean="0"/>
              <a:t>16/6/2025</a:t>
            </a:fld>
            <a:endParaRPr lang="en-MY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AAD4DFE-5EA2-E369-58C2-EA703DBEB70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MY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76C0DD7-3B5B-0101-5FD2-B030ADAC0D3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25F8CC1-CE13-4FDB-9876-602F9DCEF944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19452147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4C9DA407-AFB4-5726-49D6-B10BCF89791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45378186"/>
              </p:ext>
            </p:extLst>
          </p:nvPr>
        </p:nvGraphicFramePr>
        <p:xfrm>
          <a:off x="1295400" y="353906"/>
          <a:ext cx="7071360" cy="2743200"/>
        </p:xfrm>
        <a:graphic>
          <a:graphicData uri="http://schemas.openxmlformats.org/drawingml/2006/table">
            <a:tbl>
              <a:tblPr firstRow="1" bandRow="1">
                <a:tableStyleId>{8799B23B-EC83-4686-B30A-512413B5E67A}</a:tableStyleId>
              </a:tblPr>
              <a:tblGrid>
                <a:gridCol w="1032301">
                  <a:extLst>
                    <a:ext uri="{9D8B030D-6E8A-4147-A177-3AD203B41FA5}">
                      <a16:colId xmlns:a16="http://schemas.microsoft.com/office/drawing/2014/main" val="1070757964"/>
                    </a:ext>
                  </a:extLst>
                </a:gridCol>
                <a:gridCol w="6039059">
                  <a:extLst>
                    <a:ext uri="{9D8B030D-6E8A-4147-A177-3AD203B41FA5}">
                      <a16:colId xmlns:a16="http://schemas.microsoft.com/office/drawing/2014/main" val="2585977014"/>
                    </a:ext>
                  </a:extLst>
                </a:gridCol>
              </a:tblGrid>
              <a:tr h="317444">
                <a:tc>
                  <a:txBody>
                    <a:bodyPr/>
                    <a:lstStyle/>
                    <a:p>
                      <a:r>
                        <a:rPr lang="en-MY" dirty="0"/>
                        <a:t>Items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MY" dirty="0"/>
                        <a:t>Conditional Pattern Base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72379920"/>
                  </a:ext>
                </a:extLst>
              </a:tr>
              <a:tr h="317444">
                <a:tc>
                  <a:txBody>
                    <a:bodyPr/>
                    <a:lstStyle/>
                    <a:p>
                      <a:r>
                        <a:rPr lang="en-MY" dirty="0"/>
                        <a:t>Charger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MY" dirty="0"/>
                        <a:t>{{Mouse, Laptop, Webcam, Phone : 1} , {Mouse, Phone:1}, {Phone:1}}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42351940"/>
                  </a:ext>
                </a:extLst>
              </a:tr>
              <a:tr h="317444">
                <a:tc>
                  <a:txBody>
                    <a:bodyPr/>
                    <a:lstStyle/>
                    <a:p>
                      <a:r>
                        <a:rPr lang="en-MY" dirty="0"/>
                        <a:t>Phone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MY" dirty="0"/>
                        <a:t>{{Mouse, Laptop, Webcam : 1}, {Mouse : 1}}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86146387"/>
                  </a:ext>
                </a:extLst>
              </a:tr>
              <a:tr h="317444">
                <a:tc>
                  <a:txBody>
                    <a:bodyPr/>
                    <a:lstStyle/>
                    <a:p>
                      <a:r>
                        <a:rPr lang="en-MY" dirty="0"/>
                        <a:t>Webcam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MY" dirty="0"/>
                        <a:t>{{Mouse, Laptop: 3}}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84746151"/>
                  </a:ext>
                </a:extLst>
              </a:tr>
              <a:tr h="317444">
                <a:tc>
                  <a:txBody>
                    <a:bodyPr/>
                    <a:lstStyle/>
                    <a:p>
                      <a:r>
                        <a:rPr lang="en-MY" dirty="0"/>
                        <a:t>Laptop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MY" dirty="0"/>
                        <a:t>{{Mouse:3}}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81256698"/>
                  </a:ext>
                </a:extLst>
              </a:tr>
              <a:tr h="317444">
                <a:tc>
                  <a:txBody>
                    <a:bodyPr/>
                    <a:lstStyle/>
                    <a:p>
                      <a:r>
                        <a:rPr lang="en-MY" dirty="0"/>
                        <a:t>Mouse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MY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4022793"/>
                  </a:ext>
                </a:extLst>
              </a:tr>
            </a:tbl>
          </a:graphicData>
        </a:graphic>
      </p:graphicFrame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8425B9E1-2CBA-28E8-8C5F-778DE2BED10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41084791"/>
              </p:ext>
            </p:extLst>
          </p:nvPr>
        </p:nvGraphicFramePr>
        <p:xfrm>
          <a:off x="1295400" y="3395134"/>
          <a:ext cx="7062216" cy="3291840"/>
        </p:xfrm>
        <a:graphic>
          <a:graphicData uri="http://schemas.openxmlformats.org/drawingml/2006/table">
            <a:tbl>
              <a:tblPr firstRow="1" bandRow="1">
                <a:tableStyleId>{8799B23B-EC83-4686-B30A-512413B5E67A}</a:tableStyleId>
              </a:tblPr>
              <a:tblGrid>
                <a:gridCol w="1461146">
                  <a:extLst>
                    <a:ext uri="{9D8B030D-6E8A-4147-A177-3AD203B41FA5}">
                      <a16:colId xmlns:a16="http://schemas.microsoft.com/office/drawing/2014/main" val="1070757964"/>
                    </a:ext>
                  </a:extLst>
                </a:gridCol>
                <a:gridCol w="4000382">
                  <a:extLst>
                    <a:ext uri="{9D8B030D-6E8A-4147-A177-3AD203B41FA5}">
                      <a16:colId xmlns:a16="http://schemas.microsoft.com/office/drawing/2014/main" val="2585977014"/>
                    </a:ext>
                  </a:extLst>
                </a:gridCol>
                <a:gridCol w="1600688">
                  <a:extLst>
                    <a:ext uri="{9D8B030D-6E8A-4147-A177-3AD203B41FA5}">
                      <a16:colId xmlns:a16="http://schemas.microsoft.com/office/drawing/2014/main" val="840004308"/>
                    </a:ext>
                  </a:extLst>
                </a:gridCol>
              </a:tblGrid>
              <a:tr h="317444">
                <a:tc>
                  <a:txBody>
                    <a:bodyPr/>
                    <a:lstStyle/>
                    <a:p>
                      <a:r>
                        <a:rPr lang="en-MY" dirty="0"/>
                        <a:t>Items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MY" dirty="0"/>
                        <a:t>Conditional Pattern Base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MY" dirty="0"/>
                        <a:t>Conditional FP Tree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72379920"/>
                  </a:ext>
                </a:extLst>
              </a:tr>
              <a:tr h="317444">
                <a:tc>
                  <a:txBody>
                    <a:bodyPr/>
                    <a:lstStyle/>
                    <a:p>
                      <a:r>
                        <a:rPr lang="en-MY" dirty="0"/>
                        <a:t>Charger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MY" dirty="0"/>
                        <a:t>{{Mouse, Laptop, Webcam, Phone : 1} , {Mouse, Phone:1}, {Phone: 1}}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MY" dirty="0"/>
                        <a:t>{Phone: 3}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42351940"/>
                  </a:ext>
                </a:extLst>
              </a:tr>
              <a:tr h="317444">
                <a:tc>
                  <a:txBody>
                    <a:bodyPr/>
                    <a:lstStyle/>
                    <a:p>
                      <a:r>
                        <a:rPr lang="en-MY" dirty="0"/>
                        <a:t>Phone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MY" dirty="0"/>
                        <a:t>{{Mouse, Laptop, Webcam : 1}, {Mouse : 1}}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MY" dirty="0"/>
                        <a:t>{Mouse: 2}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86146387"/>
                  </a:ext>
                </a:extLst>
              </a:tr>
              <a:tr h="317444">
                <a:tc>
                  <a:txBody>
                    <a:bodyPr/>
                    <a:lstStyle/>
                    <a:p>
                      <a:r>
                        <a:rPr lang="en-MY" dirty="0"/>
                        <a:t>Webcam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MY" dirty="0"/>
                        <a:t>{{Mouse, Laptop: 3}}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MY" dirty="0"/>
                        <a:t>{Mouse, Laptop: 3}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84746151"/>
                  </a:ext>
                </a:extLst>
              </a:tr>
              <a:tr h="317444">
                <a:tc>
                  <a:txBody>
                    <a:bodyPr/>
                    <a:lstStyle/>
                    <a:p>
                      <a:r>
                        <a:rPr lang="en-MY" dirty="0"/>
                        <a:t>Laptop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MY" dirty="0"/>
                        <a:t>{{Mouse:3}}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MY" dirty="0"/>
                        <a:t>{Mouse: 3}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81256698"/>
                  </a:ext>
                </a:extLst>
              </a:tr>
              <a:tr h="317444">
                <a:tc>
                  <a:txBody>
                    <a:bodyPr/>
                    <a:lstStyle/>
                    <a:p>
                      <a:r>
                        <a:rPr lang="en-MY" dirty="0"/>
                        <a:t>Mouse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MY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MY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402279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0235852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7B1B2AE4-B91A-FDFC-4768-14600F24BA8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40042473"/>
              </p:ext>
            </p:extLst>
          </p:nvPr>
        </p:nvGraphicFramePr>
        <p:xfrm>
          <a:off x="1231392" y="774530"/>
          <a:ext cx="5526024" cy="2743200"/>
        </p:xfrm>
        <a:graphic>
          <a:graphicData uri="http://schemas.openxmlformats.org/drawingml/2006/table">
            <a:tbl>
              <a:tblPr firstRow="1" bandRow="1">
                <a:tableStyleId>{8799B23B-EC83-4686-B30A-512413B5E67A}</a:tableStyleId>
              </a:tblPr>
              <a:tblGrid>
                <a:gridCol w="1273057">
                  <a:extLst>
                    <a:ext uri="{9D8B030D-6E8A-4147-A177-3AD203B41FA5}">
                      <a16:colId xmlns:a16="http://schemas.microsoft.com/office/drawing/2014/main" val="1070757964"/>
                    </a:ext>
                  </a:extLst>
                </a:gridCol>
                <a:gridCol w="4252967">
                  <a:extLst>
                    <a:ext uri="{9D8B030D-6E8A-4147-A177-3AD203B41FA5}">
                      <a16:colId xmlns:a16="http://schemas.microsoft.com/office/drawing/2014/main" val="2585977014"/>
                    </a:ext>
                  </a:extLst>
                </a:gridCol>
              </a:tblGrid>
              <a:tr h="317444">
                <a:tc>
                  <a:txBody>
                    <a:bodyPr/>
                    <a:lstStyle/>
                    <a:p>
                      <a:r>
                        <a:rPr lang="en-MY" dirty="0"/>
                        <a:t>Items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MY" dirty="0"/>
                        <a:t>Frequent Pattern Generated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72379920"/>
                  </a:ext>
                </a:extLst>
              </a:tr>
              <a:tr h="317444">
                <a:tc>
                  <a:txBody>
                    <a:bodyPr/>
                    <a:lstStyle/>
                    <a:p>
                      <a:r>
                        <a:rPr lang="en-MY" dirty="0"/>
                        <a:t>Charger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MY" dirty="0"/>
                        <a:t>{&lt;Phone, Charger: 3&gt;}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42351940"/>
                  </a:ext>
                </a:extLst>
              </a:tr>
              <a:tr h="317444">
                <a:tc>
                  <a:txBody>
                    <a:bodyPr/>
                    <a:lstStyle/>
                    <a:p>
                      <a:r>
                        <a:rPr lang="en-MY" dirty="0"/>
                        <a:t>Phone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MY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86146387"/>
                  </a:ext>
                </a:extLst>
              </a:tr>
              <a:tr h="317444">
                <a:tc>
                  <a:txBody>
                    <a:bodyPr/>
                    <a:lstStyle/>
                    <a:p>
                      <a:r>
                        <a:rPr lang="en-MY" dirty="0"/>
                        <a:t>Webcam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MY" dirty="0"/>
                        <a:t>{&lt;Mouse, Webcam: 3&gt;, &lt;Laptop, Webcam: 3&gt;, &lt;Mouse, Laptop, Webcam: 3&gt;}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84746151"/>
                  </a:ext>
                </a:extLst>
              </a:tr>
              <a:tr h="317444">
                <a:tc>
                  <a:txBody>
                    <a:bodyPr/>
                    <a:lstStyle/>
                    <a:p>
                      <a:r>
                        <a:rPr lang="en-MY" dirty="0"/>
                        <a:t>Laptop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MY" dirty="0"/>
                        <a:t>{&lt;Mouse, Laptop: 3&gt;}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81256698"/>
                  </a:ext>
                </a:extLst>
              </a:tr>
              <a:tr h="317444">
                <a:tc>
                  <a:txBody>
                    <a:bodyPr/>
                    <a:lstStyle/>
                    <a:p>
                      <a:r>
                        <a:rPr lang="en-MY" dirty="0"/>
                        <a:t>Mouse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MY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402279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6240116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2B5674B1-AFC1-0FFD-3288-59A9A9DCC60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70634407"/>
              </p:ext>
            </p:extLst>
          </p:nvPr>
        </p:nvGraphicFramePr>
        <p:xfrm>
          <a:off x="2032000" y="719665"/>
          <a:ext cx="7612513" cy="4882237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2027784">
                  <a:extLst>
                    <a:ext uri="{9D8B030D-6E8A-4147-A177-3AD203B41FA5}">
                      <a16:colId xmlns:a16="http://schemas.microsoft.com/office/drawing/2014/main" val="370929284"/>
                    </a:ext>
                  </a:extLst>
                </a:gridCol>
                <a:gridCol w="2826146">
                  <a:extLst>
                    <a:ext uri="{9D8B030D-6E8A-4147-A177-3AD203B41FA5}">
                      <a16:colId xmlns:a16="http://schemas.microsoft.com/office/drawing/2014/main" val="2840305569"/>
                    </a:ext>
                  </a:extLst>
                </a:gridCol>
                <a:gridCol w="2758583">
                  <a:extLst>
                    <a:ext uri="{9D8B030D-6E8A-4147-A177-3AD203B41FA5}">
                      <a16:colId xmlns:a16="http://schemas.microsoft.com/office/drawing/2014/main" val="1466317799"/>
                    </a:ext>
                  </a:extLst>
                </a:gridCol>
              </a:tblGrid>
              <a:tr h="390579">
                <a:tc>
                  <a:txBody>
                    <a:bodyPr/>
                    <a:lstStyle/>
                    <a:p>
                      <a:r>
                        <a:rPr lang="en-MY" dirty="0"/>
                        <a:t>Aspect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MY" dirty="0"/>
                        <a:t>Advantage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MY" dirty="0"/>
                        <a:t>Disadvantage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81797138"/>
                  </a:ext>
                </a:extLst>
              </a:tr>
              <a:tr h="1269382">
                <a:tc>
                  <a:txBody>
                    <a:bodyPr/>
                    <a:lstStyle/>
                    <a:p>
                      <a:r>
                        <a:rPr lang="en-MY" dirty="0"/>
                        <a:t>Efficiency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Faster than Apriori, especially for large datasets with many frequent items</a:t>
                      </a:r>
                      <a:endParaRPr lang="en-MY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Can be memory-intensive due to tree construction</a:t>
                      </a:r>
                      <a:endParaRPr lang="en-MY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25325965"/>
                  </a:ext>
                </a:extLst>
              </a:tr>
              <a:tr h="976447">
                <a:tc>
                  <a:txBody>
                    <a:bodyPr/>
                    <a:lstStyle/>
                    <a:p>
                      <a:r>
                        <a:rPr lang="en-MY" dirty="0"/>
                        <a:t>Compactness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Uses a compact prefix-tree (FP-Tree) to store transactions efficiently</a:t>
                      </a:r>
                      <a:endParaRPr lang="en-MY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Complex to implement compared to simpler algorithms like Apriori</a:t>
                      </a:r>
                      <a:endParaRPr lang="en-MY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55307586"/>
                  </a:ext>
                </a:extLst>
              </a:tr>
              <a:tr h="976447">
                <a:tc>
                  <a:txBody>
                    <a:bodyPr/>
                    <a:lstStyle/>
                    <a:p>
                      <a:r>
                        <a:rPr lang="en-MY" dirty="0"/>
                        <a:t>Scalability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MY" dirty="0"/>
                        <a:t>Scales well for dense datasets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Not well-suited for data that doesn’t compress well </a:t>
                      </a:r>
                      <a:endParaRPr lang="en-MY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62271862"/>
                  </a:ext>
                </a:extLst>
              </a:tr>
              <a:tr h="1269382">
                <a:tc>
                  <a:txBody>
                    <a:bodyPr/>
                    <a:lstStyle/>
                    <a:p>
                      <a:r>
                        <a:rPr lang="en-MY" dirty="0"/>
                        <a:t>Performance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High performance in practice due to reduced itemset generation</a:t>
                      </a:r>
                      <a:endParaRPr lang="en-MY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Recursion and tree-traversal may be slow for very large or deep FP-Trees</a:t>
                      </a:r>
                      <a:endParaRPr lang="en-MY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1321991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0754896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F56EB8F0-427B-49B3-372B-5B0AD620D21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83635831"/>
              </p:ext>
            </p:extLst>
          </p:nvPr>
        </p:nvGraphicFramePr>
        <p:xfrm>
          <a:off x="2031999" y="719666"/>
          <a:ext cx="7805019" cy="3236317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3949721">
                  <a:extLst>
                    <a:ext uri="{9D8B030D-6E8A-4147-A177-3AD203B41FA5}">
                      <a16:colId xmlns:a16="http://schemas.microsoft.com/office/drawing/2014/main" val="2840305569"/>
                    </a:ext>
                  </a:extLst>
                </a:gridCol>
                <a:gridCol w="3855298">
                  <a:extLst>
                    <a:ext uri="{9D8B030D-6E8A-4147-A177-3AD203B41FA5}">
                      <a16:colId xmlns:a16="http://schemas.microsoft.com/office/drawing/2014/main" val="1466317799"/>
                    </a:ext>
                  </a:extLst>
                </a:gridCol>
              </a:tblGrid>
              <a:tr h="334002">
                <a:tc>
                  <a:txBody>
                    <a:bodyPr/>
                    <a:lstStyle/>
                    <a:p>
                      <a:r>
                        <a:rPr lang="en-MY" dirty="0"/>
                        <a:t>Advantage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MY" dirty="0"/>
                        <a:t>Disadvantage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81797138"/>
                  </a:ext>
                </a:extLst>
              </a:tr>
              <a:tr h="556853">
                <a:tc>
                  <a:txBody>
                    <a:bodyPr/>
                    <a:lstStyle/>
                    <a:p>
                      <a:r>
                        <a:rPr lang="en-MY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No candidate generation, no candidate test</a:t>
                      </a:r>
                      <a:endParaRPr lang="en-MY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FP Tree is more cumbersome and difficult to build than Apriori.</a:t>
                      </a:r>
                      <a:endParaRPr lang="en-MY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25325965"/>
                  </a:ext>
                </a:extLst>
              </a:tr>
              <a:tr h="559708">
                <a:tc>
                  <a:txBody>
                    <a:bodyPr/>
                    <a:lstStyle/>
                    <a:p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Uses compact data structure called FP-Tree</a:t>
                      </a:r>
                      <a:endParaRPr lang="en-MY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MY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It may be expensive. </a:t>
                      </a:r>
                      <a:endParaRPr lang="en-MY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55307586"/>
                  </a:ext>
                </a:extLst>
              </a:tr>
              <a:tr h="835004">
                <a:tc>
                  <a:txBody>
                    <a:bodyPr/>
                    <a:lstStyle/>
                    <a:p>
                      <a:r>
                        <a:rPr lang="en-MY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Eliminates repeated database scan</a:t>
                      </a:r>
                      <a:endParaRPr lang="en-MY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When the database is large, the algorithm may not fit in the shared memory.</a:t>
                      </a:r>
                      <a:endParaRPr lang="en-MY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62271862"/>
                  </a:ext>
                </a:extLst>
              </a:tr>
              <a:tr h="675997">
                <a:tc>
                  <a:txBody>
                    <a:bodyPr/>
                    <a:lstStyle/>
                    <a:p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Basic operation is counting and FP-tree building</a:t>
                      </a:r>
                      <a:endParaRPr lang="en-MY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MY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13219915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C86BA017-C26D-F852-16D8-F4264EE6E103}"/>
              </a:ext>
            </a:extLst>
          </p:cNvPr>
          <p:cNvSpPr txBox="1"/>
          <p:nvPr/>
        </p:nvSpPr>
        <p:spPr>
          <a:xfrm>
            <a:off x="1127600" y="4747318"/>
            <a:ext cx="609760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MY" b="1"/>
              <a:t>BENEFITS OF FP-TREE STRUCTURE</a:t>
            </a:r>
            <a:endParaRPr lang="en-MY" dirty="0"/>
          </a:p>
        </p:txBody>
      </p:sp>
    </p:spTree>
    <p:extLst>
      <p:ext uri="{BB962C8B-B14F-4D97-AF65-F5344CB8AC3E}">
        <p14:creationId xmlns:p14="http://schemas.microsoft.com/office/powerpoint/2010/main" val="391754380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735862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332</Words>
  <Application>Microsoft Office PowerPoint</Application>
  <PresentationFormat>Widescreen</PresentationFormat>
  <Paragraphs>62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yasmin batrisyia</dc:creator>
  <cp:lastModifiedBy>yasmin batrisyia</cp:lastModifiedBy>
  <cp:revision>1</cp:revision>
  <dcterms:created xsi:type="dcterms:W3CDTF">2025-06-15T18:25:13Z</dcterms:created>
  <dcterms:modified xsi:type="dcterms:W3CDTF">2025-06-16T13:54:41Z</dcterms:modified>
</cp:coreProperties>
</file>